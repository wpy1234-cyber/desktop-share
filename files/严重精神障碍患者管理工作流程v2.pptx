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301752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0080"/>
            <a:ext cx="2194560" cy="2194560"/>
          </a:xfrm>
          <a:prstGeom prst="ellipse">
            <a:avLst/>
          </a:prstGeom>
          <a:solidFill>
            <a:srgbClr val="006B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00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5029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135331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A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管理救助工作流程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41148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54203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  ·  汇报单位：XX乡镇/街道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筛查体系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9164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随访评估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五帮一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6052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信息共享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应急管控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帮扶政策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63840" y="4160520"/>
            <a:ext cx="1097280" cy="502920"/>
          </a:xfrm>
          <a:prstGeom prst="rect">
            <a:avLst>
              <a:gd name="adj" fmla="val 49091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责任落实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8229600" cy="54864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74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守护精神健康  ·  共建平安社区  ·  落实分级管理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  |  2026年3月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· 工作流程七大模块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8680" y="2880360"/>
            <a:ext cx="7406640" cy="54864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514600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多渠道构建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筛查体系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2514600"/>
            <a:ext cx="731520" cy="73152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4592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随访评估与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工作要求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2514600"/>
            <a:ext cx="731520" cy="73152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3464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居家治疗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"五帮一"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514600"/>
            <a:ext cx="731520" cy="7315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02336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信息共享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2514600"/>
            <a:ext cx="731520" cy="73152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21208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C40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2514600"/>
            <a:ext cx="731520" cy="73152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帮扶救助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0" y="2514600"/>
            <a:ext cx="731520" cy="73152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589520" y="3429000"/>
            <a:ext cx="1097280" cy="14630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607D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3429000"/>
            <a:ext cx="1097280" cy="109728"/>
          </a:xfrm>
          <a:prstGeom prst="rect">
            <a:avLst>
              <a:gd name="adj" fmla="val 83333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0" y="3584448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工作统筹与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责任落实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71600" y="5166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共七大工作模块，系统推进严重精神障碍患者管理救助工作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一、多渠道构建筛查体系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发现机制 · 属地责任 · 精准识别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188720"/>
            <a:ext cx="2697480" cy="5349240"/>
          </a:xfrm>
          <a:prstGeom prst="rect">
            <a:avLst>
              <a:gd name="adj" fmla="val 4068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188720"/>
            <a:ext cx="2697480" cy="91440"/>
          </a:xfrm>
          <a:prstGeom prst="rect">
            <a:avLst>
              <a:gd name="adj" fmla="val 1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1371600"/>
            <a:ext cx="777240" cy="7772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" y="22677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基层网格筛查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26791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一线发现机制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017520"/>
            <a:ext cx="214884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321868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18211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网格员定期走访辖区居民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" y="38404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80390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发现疑似患者或精神行为异常人员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" y="44622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42569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及时报告村(居)民委员会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" y="5084064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04748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形成"网格-村居"联动排查网络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1188720"/>
            <a:ext cx="2697480" cy="5349240"/>
          </a:xfrm>
          <a:prstGeom prst="rect">
            <a:avLst>
              <a:gd name="adj" fmla="val 4068"/>
            </a:avLst>
          </a:prstGeom>
          <a:solidFill>
            <a:srgbClr val="FFFFFF"/>
          </a:solidFill>
          <a:ln w="15240">
            <a:solidFill>
              <a:srgbClr val="5C6BC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1188720"/>
            <a:ext cx="2697480" cy="91440"/>
          </a:xfrm>
          <a:prstGeom prst="rect">
            <a:avLst>
              <a:gd name="adj" fmla="val 12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1371600"/>
            <a:ext cx="777240" cy="77724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337560" y="22677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层级联动筛查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37560" y="26791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属地责任落实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3017520"/>
            <a:ext cx="214884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3218688"/>
            <a:ext cx="164592" cy="164592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318211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乡镇(街道)同步上报县级精防机构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47288" y="3840480"/>
            <a:ext cx="164592" cy="164592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85032" y="380390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动员送医，不愿就医者重点关注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47288" y="4462272"/>
            <a:ext cx="164592" cy="164592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85032" y="442569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市县两级开展春季预防专项行动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1188720"/>
            <a:ext cx="2697480" cy="5349240"/>
          </a:xfrm>
          <a:prstGeom prst="rect">
            <a:avLst>
              <a:gd name="adj" fmla="val 4068"/>
            </a:avLst>
          </a:prstGeom>
          <a:solidFill>
            <a:srgbClr val="FFFFFF"/>
          </a:solidFill>
          <a:ln w="15240">
            <a:solidFill>
              <a:srgbClr val="FF7043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1188720"/>
            <a:ext cx="2697480" cy="91440"/>
          </a:xfrm>
          <a:prstGeom prst="rect">
            <a:avLst>
              <a:gd name="adj" fmla="val 120000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1371600"/>
            <a:ext cx="777240" cy="7772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263640" y="22677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0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重点场所筛查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63640" y="26791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精准识别渠道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3017520"/>
            <a:ext cx="214884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73368" y="3218688"/>
            <a:ext cx="164592" cy="164592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11112" y="318211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医疗机构：引导疑似患者至有资质机构就诊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73368" y="3840480"/>
            <a:ext cx="164592" cy="164592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11112" y="380390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民政：流浪乞讨人员协调公安查询身份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73368" y="4462272"/>
            <a:ext cx="164592" cy="164592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11112" y="442569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机关企事业单位排查异常人员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二、随访评估与工作要求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七类重点人群 · 横向到边 · 纵向到底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5120640" cy="5394960"/>
          </a:xfrm>
          <a:prstGeom prst="rect">
            <a:avLst>
              <a:gd name="adj" fmla="val 2143"/>
            </a:avLst>
          </a:prstGeom>
          <a:solidFill>
            <a:srgbClr val="FFFFFF"/>
          </a:solidFill>
          <a:ln w="15240">
            <a:solidFill>
              <a:srgbClr val="EC407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188720"/>
            <a:ext cx="5120640" cy="91440"/>
          </a:xfrm>
          <a:prstGeom prst="rect">
            <a:avLst>
              <a:gd name="adj" fmla="val 120000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0"/>
            <a:ext cx="685800" cy="68580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全面摸排"七类重点人群"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176272"/>
            <a:ext cx="4846320" cy="566928"/>
          </a:xfrm>
          <a:prstGeom prst="rect">
            <a:avLst>
              <a:gd name="adj" fmla="val 9677"/>
            </a:avLst>
          </a:prstGeom>
          <a:solidFill>
            <a:srgbClr val="FCE4EC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240280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1945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曾有肇事肇祸行为的患者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2798064"/>
            <a:ext cx="4846320" cy="566928"/>
          </a:xfrm>
          <a:prstGeom prst="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862072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62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281635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危险性评估为高风险患者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3419856"/>
            <a:ext cx="4846320" cy="566928"/>
          </a:xfrm>
          <a:prstGeom prst="rect">
            <a:avLst>
              <a:gd name="adj" fmla="val 9677"/>
            </a:avLst>
          </a:prstGeom>
          <a:solidFill>
            <a:srgbClr val="FCE4EC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83864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838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43814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弱监护或无监护病人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041648"/>
            <a:ext cx="4846320" cy="566928"/>
          </a:xfrm>
          <a:prstGeom prst="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05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0599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治疗依从性差或反复发病者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" y="4663440"/>
            <a:ext cx="4846320" cy="566928"/>
          </a:xfrm>
          <a:prstGeom prst="rect">
            <a:avLst>
              <a:gd name="adj" fmla="val 9677"/>
            </a:avLst>
          </a:prstGeom>
          <a:solidFill>
            <a:srgbClr val="FCE4EC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727448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27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46817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拒绝参加随访管理者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" y="5285232"/>
            <a:ext cx="4846320" cy="566928"/>
          </a:xfrm>
          <a:prstGeom prst="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5349240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53035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曾经失访患者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" y="5907024"/>
            <a:ext cx="4846320" cy="566928"/>
          </a:xfrm>
          <a:prstGeom prst="rect">
            <a:avLst>
              <a:gd name="adj" fmla="val 9677"/>
            </a:avLst>
          </a:prstGeom>
          <a:solidFill>
            <a:srgbClr val="FCE4EC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5971032"/>
            <a:ext cx="411480" cy="41148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5971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05840" y="59253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病情不稳定患者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0" y="1188720"/>
            <a:ext cx="3200400" cy="5394960"/>
          </a:xfrm>
          <a:prstGeom prst="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669280" y="1188720"/>
            <a:ext cx="3200400" cy="91440"/>
          </a:xfrm>
          <a:prstGeom prst="rect">
            <a:avLst>
              <a:gd name="adj" fmla="val 1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70448" y="137160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656832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摸排工作要求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806440" y="2176272"/>
            <a:ext cx="2926080" cy="548640"/>
          </a:xfrm>
          <a:prstGeom prst="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1945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↔️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309360" y="221284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横向到边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60920" y="221284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覆盖辖区全范围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06440" y="2798064"/>
            <a:ext cx="29260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28163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↕️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309360" y="2834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纵向到底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60920" y="28346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不留死角和盲区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806440" y="3419856"/>
            <a:ext cx="2926080" cy="548640"/>
          </a:xfrm>
          <a:prstGeom prst="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0" y="34381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🏘️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309360" y="34564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乡不漏村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60920" y="34564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行政村全覆盖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806440" y="4041648"/>
            <a:ext cx="29260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52160" y="405993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309360" y="407822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村不漏户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360920" y="40782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逐户排查到位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806440" y="4663440"/>
            <a:ext cx="2926080" cy="548640"/>
          </a:xfrm>
          <a:prstGeom prst="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52160" y="46817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309360" y="470001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户不漏人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360920" y="470001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每人建立档案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806440" y="5285232"/>
            <a:ext cx="29260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0" y="53035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🚶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309360" y="532180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流动人口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360920" y="532180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纳入排查范围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06440" y="5907024"/>
            <a:ext cx="2926080" cy="548640"/>
          </a:xfrm>
          <a:prstGeom prst="rect">
            <a:avLst>
              <a:gd name="adj" fmla="val 10000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0" y="59253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🧳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309360" y="59436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流浪人员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360920" y="59436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协同民政处置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三、居家治疗"五帮一"措施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综合帮扶 · 精准服务 · 全程管理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1572768" cy="4572000"/>
          </a:xfrm>
          <a:prstGeom prst="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188720"/>
            <a:ext cx="1572768" cy="91440"/>
          </a:xfrm>
          <a:prstGeom prst="rect">
            <a:avLst>
              <a:gd name="adj" fmla="val 1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371600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帮助规律服药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1207008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4787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协助监督服药，确保治疗依从性，防止擅自停药减药，定期评估药物不良反应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93392" y="1188720"/>
            <a:ext cx="1572768" cy="4572000"/>
          </a:xfrm>
          <a:prstGeom prst="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5C6BC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93392" y="1188720"/>
            <a:ext cx="1572768" cy="91440"/>
          </a:xfrm>
          <a:prstGeom prst="rect">
            <a:avLst>
              <a:gd name="adj" fmla="val 12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4016" y="1371600"/>
            <a:ext cx="731520" cy="73152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14016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84832" y="22402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039112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帮助定期随访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176272" y="3456432"/>
            <a:ext cx="1207008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354787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基层医生定期上门，评估病情，调整治疗方案，记录随访情况并上报系统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12464" y="1188720"/>
            <a:ext cx="1572768" cy="4572000"/>
          </a:xfrm>
          <a:prstGeom prst="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FF7043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12464" y="1188720"/>
            <a:ext cx="1572768" cy="91440"/>
          </a:xfrm>
          <a:prstGeom prst="rect">
            <a:avLst>
              <a:gd name="adj" fmla="val 120000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33088" y="1371600"/>
            <a:ext cx="731520" cy="73152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3088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803904" y="22402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758184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70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帮助生活照料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895344" y="3456432"/>
            <a:ext cx="1207008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354787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协助解决日常生活困难，改善居住卫生环境，联系社会支持资源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31536" y="1188720"/>
            <a:ext cx="1572768" cy="4572000"/>
          </a:xfrm>
          <a:prstGeom prst="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C407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31536" y="1188720"/>
            <a:ext cx="1572768" cy="91440"/>
          </a:xfrm>
          <a:prstGeom prst="rect">
            <a:avLst>
              <a:gd name="adj" fmla="val 120000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1371600"/>
            <a:ext cx="731520" cy="73152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522976" y="22402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77256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帮助心理疏导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14416" y="3456432"/>
            <a:ext cx="1207008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22976" y="354787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开展心理健康教育，减轻病耻感，增强治疗信心，帮助融入社会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50608" y="1188720"/>
            <a:ext cx="1572768" cy="4572000"/>
          </a:xfrm>
          <a:prstGeom prst="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16A085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150608" y="1188720"/>
            <a:ext cx="1572768" cy="91440"/>
          </a:xfrm>
          <a:prstGeom prst="rect">
            <a:avLst>
              <a:gd name="adj" fmla="val 12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1371600"/>
            <a:ext cx="731520" cy="7315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1232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42048" y="22402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196328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帮助就业康复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333488" y="3456432"/>
            <a:ext cx="1207008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547872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开展职业技能培训，推荐公益性岗位，促进社会功能恢复与回归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5897880"/>
            <a:ext cx="8595360" cy="749808"/>
          </a:xfrm>
          <a:prstGeom prst="rect">
            <a:avLst>
              <a:gd name="adj" fmla="val 12195"/>
            </a:avLst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6007608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6007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05840" y="5943600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"一"——为每位患者建立一份完整健康档案，动态记录病情变化、服药情况及随访记录，实现全程可追溯管理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四、信息共享机制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部门协同 · 数据互通 · 联动管理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2468880"/>
            <a:ext cx="2377440" cy="1828800"/>
          </a:xfrm>
          <a:prstGeom prst="ellipse">
            <a:avLst/>
          </a:prstGeom>
          <a:solidFill>
            <a:srgbClr val="00897B"/>
          </a:solidFill>
          <a:ln w="3175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688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信息管理系统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143000"/>
            <a:ext cx="20116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143000"/>
            <a:ext cx="2011680" cy="73152"/>
          </a:xfrm>
          <a:prstGeom prst="rect">
            <a:avLst>
              <a:gd name="adj" fmla="val 125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25272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1325880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卫生健康委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0116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C407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1143000"/>
            <a:ext cx="2011680" cy="73152"/>
          </a:xfrm>
          <a:prstGeom prst="rect">
            <a:avLst>
              <a:gd name="adj" fmla="val 125000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25272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60520" y="1325880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公安机关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143000"/>
            <a:ext cx="20116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5C6BC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143000"/>
            <a:ext cx="2011680" cy="73152"/>
          </a:xfrm>
          <a:prstGeom prst="rect">
            <a:avLst>
              <a:gd name="adj" fmla="val 125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25272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60920" y="1325880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民政部门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754880"/>
            <a:ext cx="20116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7043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754880"/>
            <a:ext cx="2011680" cy="73152"/>
          </a:xfrm>
          <a:prstGeom prst="rect">
            <a:avLst>
              <a:gd name="adj" fmla="val 125000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" y="4937760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0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综治中心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5074920"/>
            <a:ext cx="20116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A726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0" y="5074920"/>
            <a:ext cx="2011680" cy="73152"/>
          </a:xfrm>
          <a:prstGeom prst="rect">
            <a:avLst>
              <a:gd name="adj" fmla="val 125000"/>
            </a:avLst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518464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🏘️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60520" y="5257800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乡镇街道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4754880"/>
            <a:ext cx="20116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6A085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75120" y="4754880"/>
            <a:ext cx="2011680" cy="73152"/>
          </a:xfrm>
          <a:prstGeom prst="rect">
            <a:avLst>
              <a:gd name="adj" fmla="val 125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86460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💉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60920" y="4937760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基层医疗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5852160"/>
            <a:ext cx="8595360" cy="749808"/>
          </a:xfrm>
          <a:prstGeom prst="rect">
            <a:avLst>
              <a:gd name="adj" fmla="val 9756"/>
            </a:avLst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58978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共享内容：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600200" y="61081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5943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患者基本信息实时共享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108960" y="61081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5943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危险性评估结果互通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17720" y="61081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5943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肇事肇祸记录同步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0" y="61081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5943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走失人员协查联动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35240" y="61081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5943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救治情况定期通报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五、应急管控流程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快速响应 · 联动处置 · 闭环管理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188720"/>
            <a:ext cx="1536192" cy="420624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FFA726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188720"/>
            <a:ext cx="1536192" cy="109728"/>
          </a:xfrm>
          <a:prstGeom prst="rect">
            <a:avLst>
              <a:gd name="adj" fmla="val 100000"/>
            </a:avLst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1389888"/>
            <a:ext cx="731520" cy="73152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13898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6616" y="29077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发现预警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078992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2044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网格员/家属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发现病情异常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或危险行为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2880360"/>
            <a:ext cx="18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726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29968" y="1188720"/>
            <a:ext cx="1536192" cy="420624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FF7043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29968" y="1188720"/>
            <a:ext cx="1536192" cy="109728"/>
          </a:xfrm>
          <a:prstGeom prst="rect">
            <a:avLst>
              <a:gd name="adj" fmla="val 100000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32304" y="1389888"/>
            <a:ext cx="731520" cy="73152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13898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340864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066544" y="29077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立即报告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58568" y="3429000"/>
            <a:ext cx="1078992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352044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电话报告村居委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精防人员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及公安机关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84448" y="2880360"/>
            <a:ext cx="18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043"/>
                </a:solidFill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39896" y="1188720"/>
            <a:ext cx="1536192" cy="420624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C407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9896" y="1188720"/>
            <a:ext cx="1536192" cy="109728"/>
          </a:xfrm>
          <a:prstGeom prst="rect">
            <a:avLst>
              <a:gd name="adj" fmla="val 100000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42232" y="1389888"/>
            <a:ext cx="731520" cy="73152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42232" y="13898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050792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776472" y="29077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应急处置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968496" y="3429000"/>
            <a:ext cx="1078992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1336" y="352044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公安+医疗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联合出警控场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保障人身安全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94376" y="2880360"/>
            <a:ext cx="18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407A"/>
                </a:solidFill>
              </a:rPr>
              <a:t>▶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49824" y="1188720"/>
            <a:ext cx="1536192" cy="420624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49824" y="1188720"/>
            <a:ext cx="1536192" cy="109728"/>
          </a:xfrm>
          <a:prstGeom prst="rect">
            <a:avLst>
              <a:gd name="adj" fmla="val 10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1389888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13898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760720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486400" y="29077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医疗救治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78424" y="3429000"/>
            <a:ext cx="1078992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41264" y="352044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送精神卫生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紧急住院治疗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004304" y="2880360"/>
            <a:ext cx="18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897B"/>
                </a:solidFill>
              </a:rPr>
              <a:t>▶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159752" y="1188720"/>
            <a:ext cx="1536192" cy="420624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5C6BC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9752" y="1188720"/>
            <a:ext cx="1536192" cy="109728"/>
          </a:xfrm>
          <a:prstGeom prst="rect">
            <a:avLst>
              <a:gd name="adj" fmla="val 10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62088" y="1389888"/>
            <a:ext cx="731520" cy="73152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2088" y="13898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470648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196328" y="29077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跟踪回访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388352" y="3429000"/>
            <a:ext cx="1078992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51192" y="352044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纳入重点管控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加强随访频次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至每月≥1次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5577840"/>
            <a:ext cx="8595360" cy="1024128"/>
          </a:xfrm>
          <a:prstGeom prst="rect">
            <a:avLst>
              <a:gd name="adj" fmla="val 8929"/>
            </a:avLst>
          </a:prstGeom>
          <a:solidFill>
            <a:srgbClr val="FCE4EC"/>
          </a:solidFill>
          <a:ln w="19050">
            <a:solidFill>
              <a:srgbClr val="EC40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" y="5715000"/>
            <a:ext cx="685800" cy="685800"/>
          </a:xfrm>
          <a:prstGeom prst="ellipse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5715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234440" y="568756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重要提示：发现患者有伤人毁物、自伤自杀倾向时，须立即拨打110/120，切勿单独处置！确保人员安全优先！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六、帮扶救助政策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医疗保障 · 生活救助 · 康复支持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2743200" cy="5394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188720"/>
            <a:ext cx="2743200" cy="109728"/>
          </a:xfrm>
          <a:prstGeom prst="rect">
            <a:avLst>
              <a:gd name="adj" fmla="val 10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872" y="1389888"/>
            <a:ext cx="768096" cy="7680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138988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医疗费用保障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2788920"/>
            <a:ext cx="210312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926080"/>
            <a:ext cx="2414016" cy="530352"/>
          </a:xfrm>
          <a:prstGeom prst="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443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门诊慢病报销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84832" y="2999232"/>
            <a:ext cx="685800" cy="365760"/>
          </a:xfrm>
          <a:prstGeom prst="rect">
            <a:avLst>
              <a:gd name="adj" fmla="val 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29992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≥70%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" y="3520440"/>
            <a:ext cx="2414016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5387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住院政策报销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84832" y="3593592"/>
            <a:ext cx="685800" cy="365760"/>
          </a:xfrm>
          <a:prstGeom prst="rect">
            <a:avLst>
              <a:gd name="adj" fmla="val 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359359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" y="4114800"/>
            <a:ext cx="2414016" cy="530352"/>
          </a:xfrm>
          <a:prstGeom prst="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1330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民政救助兜底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84832" y="4187952"/>
            <a:ext cx="685800" cy="365760"/>
          </a:xfrm>
          <a:prstGeom prst="rect">
            <a:avLst>
              <a:gd name="adj" fmla="val 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418795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全覆盖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" y="4709160"/>
            <a:ext cx="2414016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7274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贫困患者服药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84832" y="4782312"/>
            <a:ext cx="685800" cy="365760"/>
          </a:xfrm>
          <a:prstGeom prst="rect">
            <a:avLst>
              <a:gd name="adj" fmla="val 2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478231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18688" y="1188720"/>
            <a:ext cx="2743200" cy="5394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5C6BC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18688" y="1188720"/>
            <a:ext cx="2743200" cy="109728"/>
          </a:xfrm>
          <a:prstGeom prst="rect">
            <a:avLst>
              <a:gd name="adj" fmla="val 10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1389888"/>
            <a:ext cx="768096" cy="768096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38988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310128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生活困难救助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538728" y="2788920"/>
            <a:ext cx="210312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2926080"/>
            <a:ext cx="2414016" cy="530352"/>
          </a:xfrm>
          <a:prstGeom prst="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9443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低保/特困供养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2999232"/>
            <a:ext cx="685800" cy="365760"/>
          </a:xfrm>
          <a:prstGeom prst="rect">
            <a:avLst>
              <a:gd name="adj" fmla="val 2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9992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符合即纳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3520440"/>
            <a:ext cx="2414016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5387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临时救助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0" y="3593592"/>
            <a:ext cx="685800" cy="365760"/>
          </a:xfrm>
          <a:prstGeom prst="rect">
            <a:avLst>
              <a:gd name="adj" fmla="val 2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59359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急难响应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83280" y="4114800"/>
            <a:ext cx="2414016" cy="530352"/>
          </a:xfrm>
          <a:prstGeom prst="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41330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残疾两项补贴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0" y="4187952"/>
            <a:ext cx="685800" cy="365760"/>
          </a:xfrm>
          <a:prstGeom prst="rect">
            <a:avLst>
              <a:gd name="adj" fmla="val 2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418795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按标发放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83280" y="4709160"/>
            <a:ext cx="2414016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47274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监护人看护补贴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0" y="4782312"/>
            <a:ext cx="685800" cy="365760"/>
          </a:xfrm>
          <a:prstGeom prst="rect">
            <a:avLst>
              <a:gd name="adj" fmla="val 2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478231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民政保障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63056" y="1188720"/>
            <a:ext cx="2743200" cy="539496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6A085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63056" y="1188720"/>
            <a:ext cx="2743200" cy="109728"/>
          </a:xfrm>
          <a:prstGeom prst="rect">
            <a:avLst>
              <a:gd name="adj" fmla="val 10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50608" y="1389888"/>
            <a:ext cx="768096" cy="76809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0608" y="138988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6254496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康复支持政策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83096" y="2788920"/>
            <a:ext cx="210312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7648" y="2926080"/>
            <a:ext cx="2414016" cy="530352"/>
          </a:xfrm>
          <a:prstGeom prst="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29443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社区康复建设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73568" y="2999232"/>
            <a:ext cx="685800" cy="365760"/>
          </a:xfrm>
          <a:prstGeom prst="rect">
            <a:avLst>
              <a:gd name="adj" fmla="val 2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73568" y="29992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纳入规划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27648" y="3520440"/>
            <a:ext cx="2414016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9088" y="35387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日间照料中心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973568" y="3593592"/>
            <a:ext cx="685800" cy="365760"/>
          </a:xfrm>
          <a:prstGeom prst="rect">
            <a:avLst>
              <a:gd name="adj" fmla="val 2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73568" y="359359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优先接收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27648" y="4114800"/>
            <a:ext cx="2414016" cy="530352"/>
          </a:xfrm>
          <a:prstGeom prst="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9088" y="41330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职业技能培训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973568" y="4187952"/>
            <a:ext cx="685800" cy="365760"/>
          </a:xfrm>
          <a:prstGeom prst="rect">
            <a:avLst>
              <a:gd name="adj" fmla="val 2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73568" y="418795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免费参加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27648" y="4709160"/>
            <a:ext cx="2414016" cy="530352"/>
          </a:xfrm>
          <a:prstGeom prst="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19088" y="47274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农村帮扶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973568" y="4782312"/>
            <a:ext cx="685800" cy="365760"/>
          </a:xfrm>
          <a:prstGeom prst="rect">
            <a:avLst>
              <a:gd name="adj" fmla="val 2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73568" y="478231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优先享有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502920" cy="50292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七、工作统筹与责任落实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明确职责 · 建立考核 · 强化督导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320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748272"/>
            <a:ext cx="6400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7482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5120640" cy="5394960"/>
          </a:xfrm>
          <a:prstGeom prst="rect">
            <a:avLst>
              <a:gd name="adj" fmla="val 2143"/>
            </a:avLst>
          </a:prstGeom>
          <a:solidFill>
            <a:srgbClr val="FFFFFF"/>
          </a:solidFill>
          <a:ln w="15240">
            <a:solidFill>
              <a:srgbClr val="5C6BC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188720"/>
            <a:ext cx="5120640" cy="109728"/>
          </a:xfrm>
          <a:prstGeom prst="rect">
            <a:avLst>
              <a:gd name="adj" fmla="val 100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371600"/>
            <a:ext cx="685800" cy="68580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8448" y="1417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明确各部门职责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176272"/>
            <a:ext cx="4846320" cy="594360"/>
          </a:xfrm>
          <a:prstGeom prst="rect">
            <a:avLst>
              <a:gd name="adj" fmla="val 9231"/>
            </a:avLst>
          </a:prstGeom>
          <a:solidFill>
            <a:srgbClr val="EEF2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176272"/>
            <a:ext cx="1051560" cy="594360"/>
          </a:xfrm>
          <a:prstGeom prst="rect">
            <a:avLst>
              <a:gd name="adj" fmla="val 923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76272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卫健委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36192" y="21945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统筹协调、技术指导、质量监管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48463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834640"/>
            <a:ext cx="1051560" cy="594360"/>
          </a:xfrm>
          <a:prstGeom prst="rect">
            <a:avLst>
              <a:gd name="adj" fmla="val 9231"/>
            </a:avLst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3464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36192" y="28529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危险评估、应急处置、信息共享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493008"/>
            <a:ext cx="4846320" cy="594360"/>
          </a:xfrm>
          <a:prstGeom prst="rect">
            <a:avLst>
              <a:gd name="adj" fmla="val 9231"/>
            </a:avLst>
          </a:prstGeom>
          <a:solidFill>
            <a:srgbClr val="EEF2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493008"/>
            <a:ext cx="1051560" cy="594360"/>
          </a:xfrm>
          <a:prstGeom prst="rect">
            <a:avLst>
              <a:gd name="adj" fmla="val 9231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93008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36192" y="351129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生活救助、流浪救助、安置帮扶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151376"/>
            <a:ext cx="48463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51376"/>
            <a:ext cx="1051560" cy="594360"/>
          </a:xfrm>
          <a:prstGeom prst="rect">
            <a:avLst>
              <a:gd name="adj" fmla="val 9231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151376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综治中心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36192" y="41696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网格排查、维稳管控、联防联控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809744"/>
            <a:ext cx="4846320" cy="594360"/>
          </a:xfrm>
          <a:prstGeom prst="rect">
            <a:avLst>
              <a:gd name="adj" fmla="val 9231"/>
            </a:avLst>
          </a:prstGeom>
          <a:solidFill>
            <a:srgbClr val="EEF2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809744"/>
            <a:ext cx="1051560" cy="594360"/>
          </a:xfrm>
          <a:prstGeom prst="rect">
            <a:avLst>
              <a:gd name="adj" fmla="val 9231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09744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乡镇街道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36192" y="482803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属地管理、落实签约、组织随访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1188720"/>
            <a:ext cx="3200400" cy="5394960"/>
          </a:xfrm>
          <a:prstGeom prst="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1188720"/>
            <a:ext cx="3200400" cy="109728"/>
          </a:xfrm>
          <a:prstGeom prst="rect">
            <a:avLst>
              <a:gd name="adj" fmla="val 10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70448" y="137160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56832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绩效考核指标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806440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签约管理率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06440" y="2542032"/>
            <a:ext cx="2194560" cy="164592"/>
          </a:xfrm>
          <a:prstGeom prst="rect">
            <a:avLst>
              <a:gd name="adj" fmla="val 50000"/>
            </a:avLst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6440" y="2542032"/>
            <a:ext cx="1755648" cy="164592"/>
          </a:xfrm>
          <a:prstGeom prst="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19872" y="2194560"/>
            <a:ext cx="685800" cy="384048"/>
          </a:xfrm>
          <a:prstGeom prst="rect">
            <a:avLst>
              <a:gd name="adj" fmla="val 19048"/>
            </a:avLst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19872" y="21945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28712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规范随访率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06440" y="3200400"/>
            <a:ext cx="2194560" cy="164592"/>
          </a:xfrm>
          <a:prstGeom prst="rect">
            <a:avLst>
              <a:gd name="adj" fmla="val 50000"/>
            </a:avLst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3200400"/>
            <a:ext cx="2084832" cy="164592"/>
          </a:xfrm>
          <a:prstGeom prst="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19872" y="2852928"/>
            <a:ext cx="685800" cy="384048"/>
          </a:xfrm>
          <a:prstGeom prst="rect">
            <a:avLst>
              <a:gd name="adj" fmla="val 19048"/>
            </a:avLst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9872" y="28529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06440" y="35295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服药依从率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06440" y="3858768"/>
            <a:ext cx="2194560" cy="164592"/>
          </a:xfrm>
          <a:prstGeom prst="rect">
            <a:avLst>
              <a:gd name="adj" fmla="val 50000"/>
            </a:avLst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6440" y="3858768"/>
            <a:ext cx="1316736" cy="164592"/>
          </a:xfrm>
          <a:prstGeom prst="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19872" y="3511296"/>
            <a:ext cx="685800" cy="384048"/>
          </a:xfrm>
          <a:prstGeom prst="rect">
            <a:avLst>
              <a:gd name="adj" fmla="val 19048"/>
            </a:avLst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19872" y="351129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≥60%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06440" y="4187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健康档案率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06440" y="4517136"/>
            <a:ext cx="2194560" cy="164592"/>
          </a:xfrm>
          <a:prstGeom prst="rect">
            <a:avLst>
              <a:gd name="adj" fmla="val 50000"/>
            </a:avLst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06440" y="4517136"/>
            <a:ext cx="2194560" cy="164592"/>
          </a:xfrm>
          <a:prstGeom prst="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19872" y="4169664"/>
            <a:ext cx="685800" cy="384048"/>
          </a:xfrm>
          <a:prstGeom prst="rect">
            <a:avLst>
              <a:gd name="adj" fmla="val 19048"/>
            </a:avLst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19872" y="41696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06440" y="4846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失访率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806440" y="5175504"/>
            <a:ext cx="2194560" cy="164592"/>
          </a:xfrm>
          <a:prstGeom prst="rect">
            <a:avLst>
              <a:gd name="adj" fmla="val 50000"/>
            </a:avLst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06440" y="5175504"/>
            <a:ext cx="109728" cy="164592"/>
          </a:xfrm>
          <a:prstGeom prst="rect">
            <a:avLst>
              <a:gd name="adj" fmla="val 75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19872" y="4828032"/>
            <a:ext cx="685800" cy="384048"/>
          </a:xfrm>
          <a:prstGeom prst="rect">
            <a:avLst>
              <a:gd name="adj" fmla="val 19048"/>
            </a:avLst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19872" y="482803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≤5%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715000" y="5577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考核结果与经费拨付、绩效分配、人员晋升紧密挂钩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A"/>
          </a:solidFill>
          <a:ln w="12700">
            <a:solidFill>
              <a:srgbClr val="F5FA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457200"/>
            <a:ext cx="1828800" cy="18288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 谢！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834640"/>
            <a:ext cx="6400800" cy="329184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834640"/>
            <a:ext cx="6400800" cy="109728"/>
          </a:xfrm>
          <a:prstGeom prst="rect">
            <a:avLst>
              <a:gd name="adj" fmla="val 10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3566160"/>
            <a:ext cx="4572000" cy="36576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730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37490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单位：XX乡镇/街道卫生健康办公室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11680" y="44165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44348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电话：（请填写联系电话）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011680" y="51023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14600" y="51206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地址：（请填写单位地址）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63550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守护精神健康  ·  共建平安社区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严重精神障碍患者管理救助工作流程</dc:title>
  <dc:subject>PptxGenJS Presentation</dc:subject>
  <dc:creator>PptxGenJS</dc:creator>
  <cp:lastModifiedBy>PptxGenJS</cp:lastModifiedBy>
  <cp:revision>1</cp:revision>
  <dcterms:created xsi:type="dcterms:W3CDTF">2026-03-17T05:59:58Z</dcterms:created>
  <dcterms:modified xsi:type="dcterms:W3CDTF">2026-03-17T05:59:58Z</dcterms:modified>
</cp:coreProperties>
</file>