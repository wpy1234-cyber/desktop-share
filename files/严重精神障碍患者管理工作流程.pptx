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411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管理救助工作流程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4572000" cy="36576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汇报单位：XX乡镇/街道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6035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FB3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守护精神健康  共建平安社区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88720"/>
            <a:ext cx="685800" cy="1005840"/>
          </a:xfrm>
          <a:prstGeom prst="rect">
            <a:avLst>
              <a:gd name="adj" fmla="val 10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44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14447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多渠道构建筛查体系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1A7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23160"/>
            <a:ext cx="685800" cy="1005840"/>
          </a:xfrm>
          <a:prstGeom prst="rect">
            <a:avLst>
              <a:gd name="adj" fmla="val 10667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919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26791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随访评估与工作要求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57600"/>
            <a:ext cx="685800" cy="1005840"/>
          </a:xfrm>
          <a:prstGeom prst="rect">
            <a:avLst>
              <a:gd name="adj" fmla="val 10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1363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3913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居家治疗"五帮一"措施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892040"/>
            <a:ext cx="685800" cy="1005840"/>
          </a:xfrm>
          <a:prstGeom prst="rect">
            <a:avLst>
              <a:gd name="adj" fmla="val 10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1480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5148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信息共享机制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188720"/>
            <a:ext cx="685800" cy="1005840"/>
          </a:xfrm>
          <a:prstGeom prst="rect">
            <a:avLst>
              <a:gd name="adj" fmla="val 10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444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23560" y="14447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应急管控流程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46320" y="242316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423160"/>
            <a:ext cx="685800" cy="1005840"/>
          </a:xfrm>
          <a:prstGeom prst="rect">
            <a:avLst>
              <a:gd name="adj" fmla="val 10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7919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23560" y="26791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帮扶救助政策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46320" y="3657600"/>
            <a:ext cx="41148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657600"/>
            <a:ext cx="685800" cy="1005840"/>
          </a:xfrm>
          <a:prstGeom prst="rect">
            <a:avLst>
              <a:gd name="adj" fmla="val 10667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91363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623560" y="3913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工作统筹与责任落实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一、多渠道构建筛查体系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发现机制 · 属地责任 · 精准识别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2743200" cy="53035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97280"/>
            <a:ext cx="2743200" cy="1005840"/>
          </a:xfrm>
          <a:prstGeom prst="rect">
            <a:avLst>
              <a:gd name="adj" fmla="val 909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基层网格筛查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一线发现机制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40280"/>
            <a:ext cx="256032" cy="25603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2128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网格员定期走访辖区居民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256032" cy="25603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321868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发现疑似患者或精神行为异常人员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256032" cy="25603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51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422452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及时报告村(居)民委员会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5257800"/>
            <a:ext cx="256032" cy="25603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257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523036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形成"网格-村居"联动排查网络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1097280"/>
            <a:ext cx="2743200" cy="53035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1A7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1097280"/>
            <a:ext cx="2743200" cy="1005840"/>
          </a:xfrm>
          <a:prstGeom prst="rect">
            <a:avLst>
              <a:gd name="adj" fmla="val 9091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🏛️ 层级联动筛查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10128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属地责任落实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55848" y="2240280"/>
            <a:ext cx="256032" cy="256032"/>
          </a:xfrm>
          <a:prstGeom prst="rect">
            <a:avLst>
              <a:gd name="adj" fmla="val 50000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94176" y="22128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乡镇(街道)同步上报县级精防机构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55848" y="3246120"/>
            <a:ext cx="256032" cy="256032"/>
          </a:xfrm>
          <a:prstGeom prst="rect">
            <a:avLst>
              <a:gd name="adj" fmla="val 50000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94176" y="321868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动员送医，不愿就医者由综治中心、公安重点关注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55848" y="4251960"/>
            <a:ext cx="256032" cy="256032"/>
          </a:xfrm>
          <a:prstGeom prst="rect">
            <a:avLst>
              <a:gd name="adj" fmla="val 50000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4251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94176" y="422452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市县两级每年开展春季预防专项行动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3056" y="1097280"/>
            <a:ext cx="2743200" cy="53035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63056" y="1097280"/>
            <a:ext cx="2743200" cy="1005840"/>
          </a:xfrm>
          <a:prstGeom prst="rect">
            <a:avLst>
              <a:gd name="adj" fmla="val 909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重点场所筛查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54496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精准识别渠道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0216" y="2240280"/>
            <a:ext cx="256032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38544" y="22128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医疗机构：引导疑似患者至有资质机构就诊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00216" y="3246120"/>
            <a:ext cx="256032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0216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38544" y="321868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民政部门：流浪乞讨人员协调公安查询身份落户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0216" y="4251960"/>
            <a:ext cx="256032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251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38544" y="422452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机关企事业单位：排查内部精神行为异常人员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二、随访评估与工作要求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七类重点人群 · 横向到边 · 纵向到底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5029200" cy="5394960"/>
          </a:xfrm>
          <a:prstGeom prst="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97280"/>
            <a:ext cx="5029200" cy="548640"/>
          </a:xfrm>
          <a:prstGeom prst="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43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全面摸排"七类重点人群"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4937760" cy="62179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19072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19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737360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曾有肇事肇祸行为的患者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4937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377440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3774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395728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危险性评估为高风险患者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4937760" cy="62179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035808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3580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054096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弱监护或无监护病人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4937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94176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9417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712464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治疗依从性差或反复发病者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352544"/>
            <a:ext cx="4937760" cy="62179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352544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5254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37083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拒绝参加随访管理者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5010912"/>
            <a:ext cx="4937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5010912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501091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5029200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曾经失访患者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5669280"/>
            <a:ext cx="4937760" cy="62179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669280"/>
            <a:ext cx="5029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566928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" y="5687568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病情不稳定患者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577840" y="1097280"/>
            <a:ext cx="3291840" cy="539496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1A7A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77840" y="1097280"/>
            <a:ext cx="3291840" cy="548640"/>
          </a:xfrm>
          <a:prstGeom prst="rect">
            <a:avLst>
              <a:gd name="adj" fmla="val 16667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1143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摸排要求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69280" y="1755648"/>
            <a:ext cx="3108960" cy="594360"/>
          </a:xfrm>
          <a:prstGeom prst="rect">
            <a:avLst/>
          </a:prstGeom>
          <a:solidFill>
            <a:srgbClr val="E8F8F2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176479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↔️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17920" y="17830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横向到边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0" y="2414016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24231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17920" y="244144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纵向到底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669280" y="3072384"/>
            <a:ext cx="3108960" cy="594360"/>
          </a:xfrm>
          <a:prstGeom prst="rect">
            <a:avLst/>
          </a:prstGeom>
          <a:solidFill>
            <a:srgbClr val="E8F8F2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30815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🏘️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217920" y="309981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乡不漏村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69280" y="3730752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15000" y="37398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217920" y="37581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村不漏户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69280" y="4389120"/>
            <a:ext cx="3108960" cy="594360"/>
          </a:xfrm>
          <a:prstGeom prst="rect">
            <a:avLst/>
          </a:prstGeom>
          <a:solidFill>
            <a:srgbClr val="E8F8F2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439826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217920" y="441655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户不漏人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5047488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505663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🚶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217920" y="50749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包含流动人口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69280" y="5705856"/>
            <a:ext cx="3108960" cy="594360"/>
          </a:xfrm>
          <a:prstGeom prst="rect">
            <a:avLst/>
          </a:prstGeom>
          <a:solidFill>
            <a:srgbClr val="E8F8F2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15000" y="57150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🧳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217920" y="5733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包含流浪人员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三、居家治疗"五帮一"措施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综合帮扶 · 精准服务 · 全程管理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2697480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143000"/>
            <a:ext cx="2697480" cy="777240"/>
          </a:xfrm>
          <a:prstGeom prst="rect">
            <a:avLst>
              <a:gd name="adj" fmla="val 11765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💊  帮助规律服药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640080" cy="347472"/>
          </a:xfrm>
          <a:prstGeom prst="rect">
            <a:avLst>
              <a:gd name="adj" fmla="val 13158"/>
            </a:avLst>
          </a:prstGeom>
          <a:solidFill>
            <a:srgbClr val="F0F3F4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468880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家属协助监督服药，确保治疗依从性，防止擅自停药减药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143000"/>
            <a:ext cx="2697480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1A7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143000"/>
            <a:ext cx="2697480" cy="777240"/>
          </a:xfrm>
          <a:prstGeom prst="rect">
            <a:avLst>
              <a:gd name="adj" fmla="val 11765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 帮助定期随访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057400"/>
            <a:ext cx="640080" cy="347472"/>
          </a:xfrm>
          <a:prstGeom prst="rect">
            <a:avLst>
              <a:gd name="adj" fmla="val 13158"/>
            </a:avLst>
          </a:prstGeom>
          <a:solidFill>
            <a:srgbClr val="F0F3F4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2468880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基层医生定期上门随访，评估病情，及时调整治疗方案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143000"/>
            <a:ext cx="2697480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143000"/>
            <a:ext cx="2697480" cy="777240"/>
          </a:xfrm>
          <a:prstGeom prst="rect">
            <a:avLst>
              <a:gd name="adj" fmla="val 1176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 帮助生活照料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057400"/>
            <a:ext cx="640080" cy="347472"/>
          </a:xfrm>
          <a:prstGeom prst="rect">
            <a:avLst>
              <a:gd name="adj" fmla="val 13158"/>
            </a:avLst>
          </a:prstGeom>
          <a:solidFill>
            <a:srgbClr val="F0F3F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2468880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协助解决日常生活困难，改善居住环境和卫生条件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83080" y="3794760"/>
            <a:ext cx="2697480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3080" y="3794760"/>
            <a:ext cx="2697480" cy="777240"/>
          </a:xfrm>
          <a:prstGeom prst="rect">
            <a:avLst>
              <a:gd name="adj" fmla="val 11765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 帮助心理疏导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74520" y="47091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74520" y="4709160"/>
            <a:ext cx="640080" cy="347472"/>
          </a:xfrm>
          <a:prstGeom prst="rect">
            <a:avLst>
              <a:gd name="adj" fmla="val 13158"/>
            </a:avLst>
          </a:prstGeom>
          <a:solidFill>
            <a:srgbClr val="F0F3F4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47091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92808" y="5120640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开展心理健康教育，减轻病耻感，帮助融入社会生活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794760"/>
            <a:ext cx="2697480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794760"/>
            <a:ext cx="2697480" cy="777240"/>
          </a:xfrm>
          <a:prstGeom prst="rect">
            <a:avLst>
              <a:gd name="adj" fmla="val 11765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  帮助就业康复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47091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709160"/>
            <a:ext cx="640080" cy="347472"/>
          </a:xfrm>
          <a:prstGeom prst="rect">
            <a:avLst>
              <a:gd name="adj" fmla="val 13158"/>
            </a:avLst>
          </a:prstGeom>
          <a:solidFill>
            <a:srgbClr val="F0F3F4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7091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帮05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64608" y="5120640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开展职业技能培训，推荐公益性岗位，促进社会功能恢复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6291072"/>
            <a:ext cx="8595360" cy="274320"/>
          </a:xfrm>
          <a:prstGeom prst="rect">
            <a:avLst>
              <a:gd name="adj" fmla="val 16667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62910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"一"——建立一份完整的个人健康档案，动态记录病情变化、服药情况、随访记录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四、信息共享机制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部门协同 · 数据互通 · 联动管理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2743200" cy="1097280"/>
          </a:xfrm>
          <a:prstGeom prst="rect">
            <a:avLst>
              <a:gd name="adj" fmla="val 8333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信息管理系统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2286000" cy="914400"/>
          </a:xfrm>
          <a:prstGeom prst="rect">
            <a:avLst>
              <a:gd name="adj" fmla="val 8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卫生健康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委员会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286000" cy="914400"/>
          </a:xfrm>
          <a:prstGeom prst="rect">
            <a:avLst>
              <a:gd name="adj" fmla="val 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286000" cy="914400"/>
          </a:xfrm>
          <a:prstGeom prst="rect">
            <a:avLst>
              <a:gd name="adj" fmla="val 8000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389120"/>
            <a:ext cx="2286000" cy="914400"/>
          </a:xfrm>
          <a:prstGeom prst="rect">
            <a:avLst>
              <a:gd name="adj" fmla="val 8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389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5029200"/>
            <a:ext cx="2286000" cy="914400"/>
          </a:xfrm>
          <a:prstGeom prst="rect">
            <a:avLst>
              <a:gd name="adj" fmla="val 8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5029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4389120"/>
            <a:ext cx="2286000" cy="914400"/>
          </a:xfrm>
          <a:prstGeom prst="rect">
            <a:avLst>
              <a:gd name="adj" fmla="val 8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389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5806440"/>
            <a:ext cx="859536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5852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共享内容：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54480" y="5961888"/>
            <a:ext cx="164592" cy="16459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592531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患者基本信息实时共享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17520" y="5961888"/>
            <a:ext cx="164592" cy="16459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592531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危险性评估结果互通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5961888"/>
            <a:ext cx="164592" cy="16459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592531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肇事肇祸记录同步更新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5961888"/>
            <a:ext cx="164592" cy="16459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592531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救治救助情况定期通报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06640" y="5961888"/>
            <a:ext cx="164592" cy="164592"/>
          </a:xfrm>
          <a:prstGeom prst="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592531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走失失联人员协查联动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五、应急管控流程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快速响应 · 联动处置 · 闭环管理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463040" cy="43891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88720"/>
            <a:ext cx="1463040" cy="822960"/>
          </a:xfrm>
          <a:prstGeom prst="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07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15727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发现预警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1280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网格员/家属发现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患者病情异常或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出现危险行为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3291840"/>
            <a:ext cx="109728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246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57400" y="1188720"/>
            <a:ext cx="1463040" cy="43891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1188720"/>
            <a:ext cx="1463040" cy="822960"/>
          </a:xfrm>
          <a:prstGeom prst="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207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57400" y="15727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立即报告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2103120"/>
            <a:ext cx="1280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电话报告村居委、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乡镇精防人员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及公安机关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3291840"/>
            <a:ext cx="10972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46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1188720"/>
            <a:ext cx="1463040" cy="43891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188720"/>
            <a:ext cx="1463040" cy="822960"/>
          </a:xfrm>
          <a:prstGeom prst="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207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15727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应急处置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2103120"/>
            <a:ext cx="1280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公安+医疗联合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出警，控制现场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保障人身安全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57800" y="3291840"/>
            <a:ext cx="10972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246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40680" y="1188720"/>
            <a:ext cx="1463040" cy="43891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1188720"/>
            <a:ext cx="1463040" cy="822960"/>
          </a:xfrm>
          <a:prstGeom prst="rect">
            <a:avLst>
              <a:gd name="adj" fmla="val 11111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1207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15727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医疗救治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32120" y="2103120"/>
            <a:ext cx="1280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送至精神卫生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医疗机构紧急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住院治疗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3291840"/>
            <a:ext cx="109728" cy="2011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3246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32320" y="1188720"/>
            <a:ext cx="1463040" cy="43891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A7A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1188720"/>
            <a:ext cx="1463040" cy="822960"/>
          </a:xfrm>
          <a:prstGeom prst="rect">
            <a:avLst>
              <a:gd name="adj" fmla="val 11111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207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32320" y="15727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跟踪回访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23760" y="2103120"/>
            <a:ext cx="1280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出院后纳入重点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管控，加强随访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频次至每月1次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5760720"/>
            <a:ext cx="8595360" cy="804672"/>
          </a:xfrm>
          <a:prstGeom prst="rect">
            <a:avLst>
              <a:gd name="adj" fmla="val 9091"/>
            </a:avLst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806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重要提示：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828800" y="5824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发现患者有伤人毁物、自伤自杀倾向时，须立即拨打110/120，切勿单独处置，确保人员安全优先！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六、帮扶救助政策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医疗保障 · 生活救助 · 康复支持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2743200" cy="5394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97280"/>
            <a:ext cx="2743200" cy="868680"/>
          </a:xfrm>
          <a:prstGeom prst="rect">
            <a:avLst>
              <a:gd name="adj" fmla="val 10526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70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 医疗费用保障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103120"/>
            <a:ext cx="2468880" cy="868680"/>
          </a:xfrm>
          <a:prstGeom prst="rect">
            <a:avLst>
              <a:gd name="adj" fmla="val 6316"/>
            </a:avLst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03120"/>
            <a:ext cx="54864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2140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基本医保门诊慢病报销比例≥70%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2468880" cy="868680"/>
          </a:xfrm>
          <a:prstGeom prst="rect">
            <a:avLst>
              <a:gd name="adj" fmla="val 6316"/>
            </a:avLst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08960"/>
            <a:ext cx="54864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2724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住院费用政策范围内报销≥80%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2468880" cy="868680"/>
          </a:xfrm>
          <a:prstGeom prst="rect">
            <a:avLst>
              <a:gd name="adj" fmla="val 6316"/>
            </a:avLst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114800"/>
            <a:ext cx="54864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3308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民政救助对象医疗救助兜底保障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5120640"/>
            <a:ext cx="2468880" cy="868680"/>
          </a:xfrm>
          <a:prstGeom prst="rect">
            <a:avLst>
              <a:gd name="adj" fmla="val 6316"/>
            </a:avLst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5120640"/>
            <a:ext cx="54864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38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贫困患者免费服药政策落实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18688" y="1097280"/>
            <a:ext cx="2743200" cy="5394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1A7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1097280"/>
            <a:ext cx="2743200" cy="868680"/>
          </a:xfrm>
          <a:prstGeom prst="rect">
            <a:avLst>
              <a:gd name="adj" fmla="val 10526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170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 生活困难救助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55848" y="2103120"/>
            <a:ext cx="2468880" cy="868680"/>
          </a:xfrm>
          <a:prstGeom prst="rect">
            <a:avLst>
              <a:gd name="adj" fmla="val 6316"/>
            </a:avLst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2103120"/>
            <a:ext cx="54864" cy="86868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12140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符合条件者纳入低保/特困供养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3108960"/>
            <a:ext cx="2468880" cy="868680"/>
          </a:xfrm>
          <a:prstGeom prst="rect">
            <a:avLst>
              <a:gd name="adj" fmla="val 6316"/>
            </a:avLst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3108960"/>
            <a:ext cx="54864" cy="86868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12724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临时救助解决急难需求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4114800"/>
            <a:ext cx="2468880" cy="868680"/>
          </a:xfrm>
          <a:prstGeom prst="rect">
            <a:avLst>
              <a:gd name="adj" fmla="val 6316"/>
            </a:avLst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55848" y="4114800"/>
            <a:ext cx="54864" cy="86868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13308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残疾人两项补贴按标准发放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55848" y="5120640"/>
            <a:ext cx="2468880" cy="868680"/>
          </a:xfrm>
          <a:prstGeom prst="rect">
            <a:avLst>
              <a:gd name="adj" fmla="val 6316"/>
            </a:avLst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55848" y="5120640"/>
            <a:ext cx="54864" cy="86868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5138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监护人看护补贴纳入民政保障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63056" y="1097280"/>
            <a:ext cx="2743200" cy="5394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3056" y="1097280"/>
            <a:ext cx="2743200" cy="868680"/>
          </a:xfrm>
          <a:prstGeom prst="rect">
            <a:avLst>
              <a:gd name="adj" fmla="val 1052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1170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  康复支持政策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00216" y="2103120"/>
            <a:ext cx="2468880" cy="868680"/>
          </a:xfrm>
          <a:prstGeom prst="rect">
            <a:avLst>
              <a:gd name="adj" fmla="val 6316"/>
            </a:avLst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0216" y="2103120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212140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社区康复机构建设纳入规划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00216" y="3108960"/>
            <a:ext cx="2468880" cy="868680"/>
          </a:xfrm>
          <a:prstGeom prst="rect">
            <a:avLst>
              <a:gd name="adj" fmla="val 6316"/>
            </a:avLst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0216" y="3108960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37376" y="312724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工疗站/日间照料中心优先接收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0216" y="4114800"/>
            <a:ext cx="2468880" cy="868680"/>
          </a:xfrm>
          <a:prstGeom prst="rect">
            <a:avLst>
              <a:gd name="adj" fmla="val 6316"/>
            </a:avLst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0216" y="4114800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413308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职业技能培训免费参加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00216" y="5120640"/>
            <a:ext cx="2468880" cy="868680"/>
          </a:xfrm>
          <a:prstGeom prst="rect">
            <a:avLst>
              <a:gd name="adj" fmla="val 6316"/>
            </a:avLst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0216" y="5120640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7376" y="5138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农村患者优先获得农业帮扶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4"/>
          </a:solidFill>
          <a:ln w="12700">
            <a:solidFill>
              <a:srgbClr val="F0F3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七、工作统筹与责任落实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明确职责 · 考核机制 · 督导检查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严重精神障碍患者管理救助工作流程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4206240" cy="539496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1B4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97280"/>
            <a:ext cx="4206240" cy="594360"/>
          </a:xfrm>
          <a:prstGeom prst="rect">
            <a:avLst>
              <a:gd name="adj" fmla="val 15385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43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明确各部门职责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1828800"/>
            <a:ext cx="3931920" cy="80467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47088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卫健委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1847088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统筹协调、技术指导、质量监管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724912"/>
            <a:ext cx="3931920" cy="804672"/>
          </a:xfrm>
          <a:prstGeom prst="rect">
            <a:avLst/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43200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743200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危险评估、应急处置、信息共享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3931920" cy="80467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931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6393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生活救助、流浪救助、安置帮扶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517136"/>
            <a:ext cx="3931920" cy="804672"/>
          </a:xfrm>
          <a:prstGeom prst="rect">
            <a:avLst/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35424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综治中心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535424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网格排查、维稳管控、联防联控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5413248"/>
            <a:ext cx="3931920" cy="80467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431536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乡镇街道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5431536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属地管理、落实签约、组织随访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097280"/>
            <a:ext cx="4114800" cy="539496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1A7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097280"/>
            <a:ext cx="4114800" cy="594360"/>
          </a:xfrm>
          <a:prstGeom prst="rect">
            <a:avLst>
              <a:gd name="adj" fmla="val 15385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143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建立考核机制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1828800"/>
            <a:ext cx="3840480" cy="80467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847088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签约管理率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1847088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2724912"/>
            <a:ext cx="3840480" cy="804672"/>
          </a:xfrm>
          <a:prstGeom prst="rect">
            <a:avLst/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743200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规范随访率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2743200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621024"/>
            <a:ext cx="3840480" cy="80467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6393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服药依从率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639312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≥60%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92040" y="4517136"/>
            <a:ext cx="3840480" cy="804672"/>
          </a:xfrm>
          <a:prstGeom prst="rect">
            <a:avLst/>
          </a:prstGeom>
          <a:solidFill>
            <a:srgbClr val="F0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535424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危险行为发生率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4535424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年度下降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92040" y="5413248"/>
            <a:ext cx="3840480" cy="804672"/>
          </a:xfrm>
          <a:prstGeom prst="rect">
            <a:avLst/>
          </a:prstGeom>
          <a:solidFill>
            <a:srgbClr val="EAF2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5431536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失访率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5431536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≤5%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6565392"/>
            <a:ext cx="8595360" cy="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A4070"/>
          </a:solidFill>
          <a:ln w="12700">
            <a:solidFill>
              <a:srgbClr val="1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731520" y="4114800"/>
            <a:ext cx="2743200" cy="2743200"/>
          </a:xfrm>
          <a:prstGeom prst="ellipse">
            <a:avLst/>
          </a:prstGeom>
          <a:solidFill>
            <a:srgbClr val="1A4070"/>
          </a:solidFill>
          <a:ln w="12700">
            <a:solidFill>
              <a:srgbClr val="1A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 谢！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3749040"/>
            <a:ext cx="45720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C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单位：XX乡镇/街道卫生健康办公室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4892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电话：（请填写联系电话）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5303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地址：（请填写单位地址）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B3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守护精神健康  共建平安社区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严重精神障碍患者管理救助工作流程</dc:title>
  <dc:subject>PptxGenJS Presentation</dc:subject>
  <dc:creator>PptxGenJS</dc:creator>
  <cp:lastModifiedBy>PptxGenJS</cp:lastModifiedBy>
  <cp:revision>1</cp:revision>
  <dcterms:created xsi:type="dcterms:W3CDTF">2026-03-17T05:49:42Z</dcterms:created>
  <dcterms:modified xsi:type="dcterms:W3CDTF">2026-03-17T05:49:42Z</dcterms:modified>
</cp:coreProperties>
</file>