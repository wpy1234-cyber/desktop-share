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64008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22960"/>
            <a:ext cx="1463040" cy="3108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工作大纲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高质量推进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rgbClr val="1AB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家庭医生签约服务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ABEB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扩面  · 提质  · 增效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118872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政策引领</a:t>
            </a:r>
            <a:endParaRPr lang="en-US" sz="14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能力建设</a:t>
            </a:r>
            <a:endParaRPr lang="en-US" sz="14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服务升级</a:t>
            </a:r>
            <a:endParaRPr lang="en-US" sz="14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规范履约</a:t>
            </a:r>
            <a:endParaRPr lang="en-US" sz="14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保障支撑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湖北省基层卫生健康服务体系建设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68680" y="2029968"/>
            <a:ext cx="475488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9456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政策引领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7066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把准方向 锚定目标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39112" y="114300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2587752" y="2029968"/>
            <a:ext cx="475488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219456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能力建设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9112" y="27066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锻造高素质服务队伍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58184" y="114300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306824" y="2029968"/>
            <a:ext cx="475488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219456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服务升级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58184" y="27066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丰富内涵 提升质效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77256" y="114300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025896" y="2029968"/>
            <a:ext cx="475488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77256" y="219456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规范履约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77256" y="27066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精细化管理全流程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96328" y="114300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6328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7744968" y="2029968"/>
            <a:ext cx="475488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96328" y="219456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保障支撑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96328" y="27066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完善激励约束机制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一、政策引领：把准方向 锚定目标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政策背景 · 目标体系 · 乡村振兴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43000"/>
            <a:ext cx="3931920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政策背景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719072"/>
            <a:ext cx="182880" cy="1828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682496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党的二十大确立"以基层为重点"新时代卫生工作方针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377440"/>
            <a:ext cx="182880" cy="1828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340864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湖北省以"扩面、提质、增效"为主线推进健康湖北建设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3035808"/>
            <a:ext cx="182880" cy="1828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99923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家庭医生签约服务是实现全民健康覆盖的关键抓手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694176"/>
            <a:ext cx="182880" cy="1828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65760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推动基层首诊、分级诊疗落地见效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1143000"/>
            <a:ext cx="1389888" cy="3474720"/>
          </a:xfrm>
          <a:prstGeom prst="roundRect">
            <a:avLst>
              <a:gd name="adj" fmla="val 5263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2344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34840" y="16642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阶段目标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993392"/>
            <a:ext cx="1024128" cy="36576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1031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普通人群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235915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34840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重点人群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316382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≥80%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971032" y="1143000"/>
            <a:ext cx="1389888" cy="3474720"/>
          </a:xfrm>
          <a:prstGeom prst="roundRect">
            <a:avLst>
              <a:gd name="adj" fmla="val 526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12344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71032" y="16642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远期目标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53912" y="1993392"/>
            <a:ext cx="1024128" cy="36576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71032" y="21031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普通人群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71032" y="235915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≥75%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971032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重点人群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71032" y="316382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≥85%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507224" y="1143000"/>
            <a:ext cx="1389888" cy="3474720"/>
          </a:xfrm>
          <a:prstGeom prst="roundRect">
            <a:avLst>
              <a:gd name="adj" fmla="val 526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07224" y="12344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507224" y="16642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执行标准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90104" y="1993392"/>
            <a:ext cx="1024128" cy="36576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07224" y="21031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普通人群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07224" y="235915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≥48%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507224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重点人群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07224" y="316382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507224" y="37124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DE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脱贫人群100%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二、能力建设：锻造高素质服务队伍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人才来源 · 医共体机制 · 全科培养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43000"/>
            <a:ext cx="4160520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"5+X" 人员构成模式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719072"/>
            <a:ext cx="566928" cy="5669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" y="23225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全科医生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25786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核心力量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00784" y="1719072"/>
            <a:ext cx="566928" cy="5669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9344" y="23225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临床医师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9344" y="25786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核心力量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17520" y="1719072"/>
            <a:ext cx="566928" cy="56692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23225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中医医师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25786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核心力量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182112"/>
            <a:ext cx="566928" cy="566928"/>
          </a:xfrm>
          <a:prstGeom prst="ellipse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2608" y="37856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乡村医生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40416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基础网络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700784" y="3182112"/>
            <a:ext cx="566928" cy="5669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00784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9344" y="37856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退休医师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09344" y="40416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补充资源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51760" y="3200400"/>
            <a:ext cx="1481328" cy="822960"/>
          </a:xfrm>
          <a:prstGeom prst="roundRect">
            <a:avLst>
              <a:gd name="adj" fmla="val 6667"/>
            </a:avLst>
          </a:prstGeom>
          <a:solidFill>
            <a:srgbClr val="E8F8F5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3273552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7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上级专科医师下沉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1143000"/>
            <a:ext cx="42245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143000"/>
            <a:ext cx="4224528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130759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专家资源下沉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9744" y="1673352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牵头医院向乡镇卫生院提供专家排班、技术推广、双向转诊绿色通道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2368296"/>
            <a:ext cx="42245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368296"/>
            <a:ext cx="4224528" cy="5486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253288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工作量挂钩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9744" y="2898648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专家下基层签到与签约服务工作量挂钩，推动从"被动支援"转为"责任共担"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3593592"/>
            <a:ext cx="42245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593592"/>
            <a:ext cx="4224528" cy="54864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375818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慢病专科融合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9744" y="4123944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心脑血管病、慢阻肺等慢性病专科医师参与家医团队，提升基层服务能力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三、服务升级（一）：夯实基础 推进融合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基层诊疗功能 · 医防深度融合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43000"/>
            <a:ext cx="4160520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夯实基层诊疗功能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819656"/>
            <a:ext cx="402336" cy="40233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792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优质服务基层行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0299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补齐设备与科室短板，提升基本医疗服务功能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450592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2569464"/>
            <a:ext cx="402336" cy="402336"/>
          </a:xfrm>
          <a:prstGeom prst="ellipse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社区医院建设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77977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强化基层医疗机构综合服务能力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20040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319272"/>
            <a:ext cx="402336" cy="402336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291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专科医生驻点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52958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每团队至少1名县级专科医生参与慢病管理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950208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4069080"/>
            <a:ext cx="402336" cy="40233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041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闭环管理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2793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基层检查、诊断、干预、转诊全流程闭环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143000"/>
            <a:ext cx="4224528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143000"/>
            <a:ext cx="4224528" cy="5486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推动医防深度融合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700784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1700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全流程健康管理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01184" y="1975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将国家基本公共卫生服务与签约服务有机结合，实现全周期覆盖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450592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电子健康档案开放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01184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推进向居民开放，增强居民对自身健康的关注度和参与度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200400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家庭健康助理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01184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鼓励培训家庭健康助理，协助家医团队开展健康管理，提升效率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95020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精准健康教育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01184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建立签约居民标签库，结合季节流行病特点推送个性化科普内容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三、服务升级（二）："1+N"服务包与转诊通道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服务包设计 · 健康咨询渠道 · 绿色转诊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"1+N" 服务包体系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664208"/>
            <a:ext cx="1737360" cy="1426464"/>
          </a:xfrm>
          <a:prstGeom prst="roundRect">
            <a:avLst>
              <a:gd name="adj" fmla="val 3846"/>
            </a:avLst>
          </a:prstGeom>
          <a:solidFill>
            <a:srgbClr val="15436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377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基本医疗+公共卫生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1664208"/>
            <a:ext cx="1901952" cy="1426464"/>
          </a:xfrm>
          <a:prstGeom prst="roundRect">
            <a:avLst>
              <a:gd name="adj" fmla="val 3846"/>
            </a:avLst>
          </a:prstGeom>
          <a:solidFill>
            <a:srgbClr val="0E6655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17373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331720" y="21031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个性化升级包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37744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BEB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菜单式自选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BEB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收费不超指导价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BEB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脱贫对象免费体检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364992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381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多元化健康咨询渠道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803904"/>
            <a:ext cx="822960" cy="822960"/>
          </a:xfrm>
          <a:prstGeom prst="roundRect">
            <a:avLst>
              <a:gd name="adj" fmla="val 6667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8039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53312" y="3803904"/>
            <a:ext cx="822960" cy="822960"/>
          </a:xfrm>
          <a:prstGeom prst="roundRect">
            <a:avLst>
              <a:gd name="adj" fmla="val 6667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3312" y="38039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22576" y="3803904"/>
            <a:ext cx="822960" cy="822960"/>
          </a:xfrm>
          <a:prstGeom prst="roundRect">
            <a:avLst>
              <a:gd name="adj" fmla="val 6667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22576" y="38039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803904"/>
            <a:ext cx="822960" cy="822960"/>
          </a:xfrm>
          <a:prstGeom prst="roundRect">
            <a:avLst>
              <a:gd name="adj" fmla="val 6667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8039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上门服务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143000"/>
            <a:ext cx="4224528" cy="3685032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143000"/>
            <a:ext cx="4224528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66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畅通转诊绿色通道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1664208"/>
            <a:ext cx="329184" cy="3291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60620" y="1993392"/>
            <a:ext cx="0" cy="292608"/>
          </a:xfrm>
          <a:prstGeom prst="line">
            <a:avLst/>
          </a:prstGeom>
          <a:noFill/>
          <a:ln w="19050">
            <a:solidFill>
              <a:srgbClr val="F39C12"/>
            </a:solidFill>
            <a:prstDash val="dot"/>
          </a:ln>
        </p:spPr>
      </p:sp>
      <p:sp>
        <p:nvSpPr>
          <p:cNvPr id="33" name="Text 31"/>
          <p:cNvSpPr/>
          <p:nvPr/>
        </p:nvSpPr>
        <p:spPr>
          <a:xfrm>
            <a:off x="5230368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基层首诊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家庭医生评估转诊需求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286000"/>
            <a:ext cx="329184" cy="3291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60620" y="2615184"/>
            <a:ext cx="0" cy="292608"/>
          </a:xfrm>
          <a:prstGeom prst="line">
            <a:avLst/>
          </a:prstGeom>
          <a:noFill/>
          <a:ln w="19050">
            <a:solidFill>
              <a:srgbClr val="F39C12"/>
            </a:solidFill>
            <a:prstDash val="dot"/>
          </a:ln>
        </p:spPr>
      </p:sp>
      <p:sp>
        <p:nvSpPr>
          <p:cNvPr id="38" name="Text 36"/>
          <p:cNvSpPr/>
          <p:nvPr/>
        </p:nvSpPr>
        <p:spPr>
          <a:xfrm>
            <a:off x="5230368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开具转诊单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0368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电子转诊单+优先入院机制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907792"/>
            <a:ext cx="329184" cy="3291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60620" y="3236976"/>
            <a:ext cx="0" cy="292608"/>
          </a:xfrm>
          <a:prstGeom prst="line">
            <a:avLst/>
          </a:prstGeom>
          <a:noFill/>
          <a:ln w="19050">
            <a:solidFill>
              <a:srgbClr val="F39C12"/>
            </a:solidFill>
            <a:prstDash val="dot"/>
          </a:ln>
        </p:spPr>
      </p:sp>
      <p:sp>
        <p:nvSpPr>
          <p:cNvPr id="43" name="Text 41"/>
          <p:cNvSpPr/>
          <p:nvPr/>
        </p:nvSpPr>
        <p:spPr>
          <a:xfrm>
            <a:off x="5230368" y="2907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专家号源预留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30368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不低于20%专家号给签约居民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3529584"/>
            <a:ext cx="329184" cy="3291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60620" y="3858768"/>
            <a:ext cx="0" cy="292608"/>
          </a:xfrm>
          <a:prstGeom prst="line">
            <a:avLst/>
          </a:prstGeom>
          <a:noFill/>
          <a:ln w="19050">
            <a:solidFill>
              <a:srgbClr val="F39C12"/>
            </a:solidFill>
            <a:prstDash val="dot"/>
          </a:ln>
        </p:spPr>
      </p:sp>
      <p:sp>
        <p:nvSpPr>
          <p:cNvPr id="48" name="Text 46"/>
          <p:cNvSpPr/>
          <p:nvPr/>
        </p:nvSpPr>
        <p:spPr>
          <a:xfrm>
            <a:off x="5230368" y="3529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优先检查入院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30368" y="3785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预约检查+住院床位预留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4151376"/>
            <a:ext cx="329184" cy="3291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30368" y="4151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缩短候诊时间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30368" y="4407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增强基层首诊吸引力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四、规范履约：精细化管理全流程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台账管理 · 重点人群 · 签约留痕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8686800" cy="1078992"/>
          </a:xfrm>
          <a:prstGeom prst="roundRect">
            <a:avLst>
              <a:gd name="adj" fmla="val 678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台账管理五大栏目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554480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1ABC9C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54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66544" y="1554480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39C12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1554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患病情况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554480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1ABC9C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54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帮扶措施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31536" y="1554480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39C12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1554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签约医生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14032" y="1554480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1ABC9C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1554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服务记录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331720"/>
            <a:ext cx="2798064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331720"/>
            <a:ext cx="2798064" cy="4023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33172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脱贫人群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" y="283464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2807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100%签约覆盖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3192" y="331012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2826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建立专项台账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" y="3785616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3758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动态监测签约履约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3192" y="4261104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" y="42336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精准掌握服务对象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72968" y="2331720"/>
            <a:ext cx="2798064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2968" y="2331720"/>
            <a:ext cx="2798064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233172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337560" y="2834640"/>
            <a:ext cx="164592" cy="16459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75304" y="2807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严格落实健康管理规范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37560" y="3310128"/>
            <a:ext cx="164592" cy="16459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5304" y="32826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做好2025年新增服务项目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37560" y="3785616"/>
            <a:ext cx="164592" cy="16459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75304" y="3758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提升健康服务水平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37560" y="4261104"/>
            <a:ext cx="164592" cy="16459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75304" y="42336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健康体检全覆盖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17336" y="2331720"/>
            <a:ext cx="2798064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17336" y="2331720"/>
            <a:ext cx="2798064" cy="402336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17336" y="233172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慢性病患者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81928" y="2834640"/>
            <a:ext cx="164592" cy="164592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9672" y="2807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规范随访管理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81928" y="3310128"/>
            <a:ext cx="164592" cy="164592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32826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诊疗路径标准化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81928" y="3785616"/>
            <a:ext cx="164592" cy="164592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9672" y="3758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慢性病全流程管理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81928" y="4261104"/>
            <a:ext cx="164592" cy="164592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9672" y="42336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用药指导与评估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778240" y="2331720"/>
            <a:ext cx="109728" cy="2423160"/>
          </a:xfrm>
          <a:prstGeom prst="roundRect">
            <a:avLst>
              <a:gd name="adj" fmla="val 33333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五、保障支撑：完善激励约束机制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多元筹资 · 薪酬分配 · 绩效考核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43000"/>
            <a:ext cx="4160520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多元筹资机制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1463040" cy="1042416"/>
          </a:xfrm>
          <a:prstGeom prst="roundRect">
            <a:avLst>
              <a:gd name="adj" fmla="val 7018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1920240"/>
            <a:ext cx="329184" cy="32918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医保基金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0" y="1828800"/>
            <a:ext cx="1463040" cy="1042416"/>
          </a:xfrm>
          <a:prstGeom prst="roundRect">
            <a:avLst>
              <a:gd name="adj" fmla="val 7018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2928" y="1920240"/>
            <a:ext cx="329184" cy="32918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23408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基本公共卫生经费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71600" y="3108960"/>
            <a:ext cx="1463040" cy="1042416"/>
          </a:xfrm>
          <a:prstGeom prst="roundRect">
            <a:avLst>
              <a:gd name="adj" fmla="val 7018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38528" y="3200400"/>
            <a:ext cx="329184" cy="32918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8528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6210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居民付费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共同承担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拓宽筹资渠道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4169664"/>
            <a:ext cx="3840480" cy="329184"/>
          </a:xfrm>
          <a:prstGeom prst="roundRect">
            <a:avLst>
              <a:gd name="adj" fmla="val 13889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169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允许财政对服务成效突出机构给予专项奖补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43000"/>
            <a:ext cx="4224528" cy="1572768"/>
          </a:xfrm>
          <a:prstGeom prst="roundRect">
            <a:avLst>
              <a:gd name="adj" fmla="val 4651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34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薪酬分配机制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664208"/>
            <a:ext cx="877824" cy="877824"/>
          </a:xfrm>
          <a:prstGeom prst="ellipse">
            <a:avLst/>
          </a:prstGeom>
          <a:solidFill>
            <a:srgbClr val="15436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6642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815584" y="1627632"/>
            <a:ext cx="2926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F5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签约服务费不低于70%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F5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用于人员薪酬分配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F5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多劳多得 · 优绩优酬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834640"/>
            <a:ext cx="42245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834640"/>
            <a:ext cx="4224528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9077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66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绩效考核体系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328416"/>
            <a:ext cx="1243584" cy="475488"/>
          </a:xfrm>
          <a:prstGeom prst="roundRect">
            <a:avLst>
              <a:gd name="adj" fmla="val 9615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328416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328416"/>
            <a:ext cx="1243584" cy="475488"/>
          </a:xfrm>
          <a:prstGeom prst="roundRect">
            <a:avLst>
              <a:gd name="adj" fmla="val 9615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3328416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重点人群占比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3328416"/>
            <a:ext cx="1243584" cy="475488"/>
          </a:xfrm>
          <a:prstGeom prst="roundRect">
            <a:avLst>
              <a:gd name="adj" fmla="val 9615"/>
            </a:avLst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3328416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续约率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50208"/>
            <a:ext cx="1243584" cy="475488"/>
          </a:xfrm>
          <a:prstGeom prst="roundRect">
            <a:avLst>
              <a:gd name="adj" fmla="val 9615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950208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健康管理效果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3950208"/>
            <a:ext cx="1243584" cy="475488"/>
          </a:xfrm>
          <a:prstGeom prst="roundRect">
            <a:avLst>
              <a:gd name="adj" fmla="val 9615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950208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居民满意度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4572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考核结果与经费拨付 · 绩效分配 · 人员晋升紧密挂钩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62272"/>
            <a:ext cx="91440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五大支柱  共筑健康中国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7432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499616" cy="2560320"/>
          </a:xfrm>
          <a:prstGeom prst="roundRect">
            <a:avLst>
              <a:gd name="adj" fmla="val 4878"/>
            </a:avLst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1499616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政策引领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39696" y="1417320"/>
            <a:ext cx="1499616" cy="2560320"/>
          </a:xfrm>
          <a:prstGeom prst="roundRect">
            <a:avLst>
              <a:gd name="adj" fmla="val 4878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9696" y="1417320"/>
            <a:ext cx="1499616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15544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39696" y="228600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能力建设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22192" y="1417320"/>
            <a:ext cx="1499616" cy="2560320"/>
          </a:xfrm>
          <a:prstGeom prst="roundRect">
            <a:avLst>
              <a:gd name="adj" fmla="val 4878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2192" y="1417320"/>
            <a:ext cx="1499616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5544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822192" y="228600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服务升级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04688" y="1417320"/>
            <a:ext cx="1499616" cy="2560320"/>
          </a:xfrm>
          <a:prstGeom prst="roundRect">
            <a:avLst>
              <a:gd name="adj" fmla="val 4878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04688" y="1417320"/>
            <a:ext cx="1499616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15544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04688" y="228600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规范履约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87184" y="1417320"/>
            <a:ext cx="1499616" cy="2560320"/>
          </a:xfrm>
          <a:prstGeom prst="roundRect">
            <a:avLst>
              <a:gd name="adj" fmla="val 4878"/>
            </a:avLst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87184" y="1417320"/>
            <a:ext cx="1499616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7184" y="15544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87184" y="228600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保障支撑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1696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高质量推进家庭医生签约服务  · 让健康触手可及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高质量推进家庭医生签约服务工作大纲</dc:title>
  <dc:subject>PptxGenJS Presentation</dc:subject>
  <dc:creator>PptxGenJS</dc:creator>
  <cp:lastModifiedBy>PptxGenJS</cp:lastModifiedBy>
  <cp:revision>1</cp:revision>
  <dcterms:created xsi:type="dcterms:W3CDTF">2026-03-16T22:27:18Z</dcterms:created>
  <dcterms:modified xsi:type="dcterms:W3CDTF">2026-03-16T22:27:18Z</dcterms:modified>
</cp:coreProperties>
</file>